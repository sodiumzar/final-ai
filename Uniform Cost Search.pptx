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re Sugar" charset="1" panose="00000000000000000000"/>
      <p:regular r:id="rId17"/>
    </p:embeddedFont>
    <p:embeddedFont>
      <p:font typeface="Fredoka" charset="1" panose="02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893859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8699" y="-1423067"/>
            <a:ext cx="7417021" cy="7417021"/>
          </a:xfrm>
          <a:custGeom>
            <a:avLst/>
            <a:gdLst/>
            <a:ahLst/>
            <a:cxnLst/>
            <a:rect r="r" b="b" t="t" l="l"/>
            <a:pathLst>
              <a:path h="7417021" w="7417021">
                <a:moveTo>
                  <a:pt x="0" y="0"/>
                </a:moveTo>
                <a:lnTo>
                  <a:pt x="7417021" y="0"/>
                </a:lnTo>
                <a:lnTo>
                  <a:pt x="7417021" y="7417021"/>
                </a:lnTo>
                <a:lnTo>
                  <a:pt x="0" y="7417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13426" y="538479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3068395">
            <a:off x="-481885" y="-2066555"/>
            <a:ext cx="6768666" cy="6190509"/>
          </a:xfrm>
          <a:custGeom>
            <a:avLst/>
            <a:gdLst/>
            <a:ahLst/>
            <a:cxnLst/>
            <a:rect r="r" b="b" t="t" l="l"/>
            <a:pathLst>
              <a:path h="6190509" w="6768666">
                <a:moveTo>
                  <a:pt x="6768666" y="6190510"/>
                </a:moveTo>
                <a:lnTo>
                  <a:pt x="0" y="6190510"/>
                </a:lnTo>
                <a:lnTo>
                  <a:pt x="0" y="0"/>
                </a:lnTo>
                <a:lnTo>
                  <a:pt x="6768666" y="0"/>
                </a:lnTo>
                <a:lnTo>
                  <a:pt x="6768666" y="619051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07361" y="2254078"/>
            <a:ext cx="1447327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B44420"/>
                </a:solidFill>
                <a:latin typeface="More Sugar"/>
                <a:ea typeface="More Sugar"/>
                <a:cs typeface="More Sugar"/>
                <a:sym typeface="More Sugar"/>
              </a:rPr>
              <a:t>Retina Blood Vessel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81742" y="7442193"/>
            <a:ext cx="6711043" cy="4114800"/>
          </a:xfrm>
          <a:custGeom>
            <a:avLst/>
            <a:gdLst/>
            <a:ahLst/>
            <a:cxnLst/>
            <a:rect r="r" b="b" t="t" l="l"/>
            <a:pathLst>
              <a:path h="4114800" w="6711043">
                <a:moveTo>
                  <a:pt x="0" y="0"/>
                </a:moveTo>
                <a:lnTo>
                  <a:pt x="6711043" y="0"/>
                </a:lnTo>
                <a:lnTo>
                  <a:pt x="67110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90788" y="6387015"/>
            <a:ext cx="6806832" cy="6225157"/>
          </a:xfrm>
          <a:custGeom>
            <a:avLst/>
            <a:gdLst/>
            <a:ahLst/>
            <a:cxnLst/>
            <a:rect r="r" b="b" t="t" l="l"/>
            <a:pathLst>
              <a:path h="6225157" w="6806832">
                <a:moveTo>
                  <a:pt x="0" y="0"/>
                </a:moveTo>
                <a:lnTo>
                  <a:pt x="6806831" y="0"/>
                </a:lnTo>
                <a:lnTo>
                  <a:pt x="6806831" y="6225157"/>
                </a:lnTo>
                <a:lnTo>
                  <a:pt x="0" y="62251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60656" y="7928065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59963">
            <a:off x="-1815575" y="2917182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658517">
            <a:off x="7903476" y="-138053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9301" y="6136417"/>
            <a:ext cx="8829398" cy="214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10"/>
              </a:lnSpc>
            </a:pPr>
            <a:r>
              <a:rPr lang="en-US" sz="6150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Kelompok 1</a:t>
            </a:r>
          </a:p>
          <a:p>
            <a:pPr algn="ctr">
              <a:lnSpc>
                <a:spcPts val="8610"/>
              </a:lnSpc>
            </a:pPr>
            <a:r>
              <a:rPr lang="en-US" sz="6150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Presentasi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8699" y="-1423067"/>
            <a:ext cx="7417021" cy="7417021"/>
          </a:xfrm>
          <a:custGeom>
            <a:avLst/>
            <a:gdLst/>
            <a:ahLst/>
            <a:cxnLst/>
            <a:rect r="r" b="b" t="t" l="l"/>
            <a:pathLst>
              <a:path h="7417021" w="7417021">
                <a:moveTo>
                  <a:pt x="0" y="0"/>
                </a:moveTo>
                <a:lnTo>
                  <a:pt x="7417021" y="0"/>
                </a:lnTo>
                <a:lnTo>
                  <a:pt x="7417021" y="7417021"/>
                </a:lnTo>
                <a:lnTo>
                  <a:pt x="0" y="7417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13426" y="538479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3068395">
            <a:off x="14118253" y="6456668"/>
            <a:ext cx="6768666" cy="6190509"/>
          </a:xfrm>
          <a:custGeom>
            <a:avLst/>
            <a:gdLst/>
            <a:ahLst/>
            <a:cxnLst/>
            <a:rect r="r" b="b" t="t" l="l"/>
            <a:pathLst>
              <a:path h="6190509" w="6768666">
                <a:moveTo>
                  <a:pt x="6768666" y="6190509"/>
                </a:moveTo>
                <a:lnTo>
                  <a:pt x="0" y="6190509"/>
                </a:lnTo>
                <a:lnTo>
                  <a:pt x="0" y="0"/>
                </a:lnTo>
                <a:lnTo>
                  <a:pt x="6768666" y="0"/>
                </a:lnTo>
                <a:lnTo>
                  <a:pt x="6768666" y="619050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13426" y="-1695965"/>
            <a:ext cx="6806832" cy="6225157"/>
          </a:xfrm>
          <a:custGeom>
            <a:avLst/>
            <a:gdLst/>
            <a:ahLst/>
            <a:cxnLst/>
            <a:rect r="r" b="b" t="t" l="l"/>
            <a:pathLst>
              <a:path h="6225157" w="6806832">
                <a:moveTo>
                  <a:pt x="0" y="0"/>
                </a:moveTo>
                <a:lnTo>
                  <a:pt x="6806832" y="0"/>
                </a:lnTo>
                <a:lnTo>
                  <a:pt x="6806832" y="6225157"/>
                </a:lnTo>
                <a:lnTo>
                  <a:pt x="0" y="62251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60656" y="7928065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759963">
            <a:off x="-1815575" y="2917182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71030" y="1167092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Our 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2605" y="3002971"/>
            <a:ext cx="15482790" cy="654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34"/>
              </a:lnSpc>
            </a:pPr>
            <a:r>
              <a:rPr lang="en-US" sz="6167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Kandou, Nazarya</a:t>
            </a:r>
          </a:p>
          <a:p>
            <a:pPr algn="ctr">
              <a:lnSpc>
                <a:spcPts val="8634"/>
              </a:lnSpc>
            </a:pPr>
            <a:r>
              <a:rPr lang="en-US" sz="6167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Wullur, Valentino</a:t>
            </a:r>
          </a:p>
          <a:p>
            <a:pPr algn="ctr">
              <a:lnSpc>
                <a:spcPts val="8634"/>
              </a:lnSpc>
            </a:pPr>
            <a:r>
              <a:rPr lang="en-US" sz="6167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Loing, Christian</a:t>
            </a:r>
          </a:p>
          <a:p>
            <a:pPr algn="ctr">
              <a:lnSpc>
                <a:spcPts val="8634"/>
              </a:lnSpc>
            </a:pPr>
            <a:r>
              <a:rPr lang="en-US" sz="6167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Masinggo, Jibrael</a:t>
            </a:r>
          </a:p>
          <a:p>
            <a:pPr algn="ctr">
              <a:lnSpc>
                <a:spcPts val="8634"/>
              </a:lnSpc>
            </a:pPr>
            <a:r>
              <a:rPr lang="en-US" sz="6167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Waladow, Geovani</a:t>
            </a:r>
          </a:p>
          <a:p>
            <a:pPr algn="ctr">
              <a:lnSpc>
                <a:spcPts val="8634"/>
              </a:lnSpc>
            </a:pPr>
            <a:r>
              <a:rPr lang="en-US" sz="6167" spc="6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Polii, Alfredo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1981742" y="7442193"/>
            <a:ext cx="6711043" cy="4114800"/>
          </a:xfrm>
          <a:custGeom>
            <a:avLst/>
            <a:gdLst/>
            <a:ahLst/>
            <a:cxnLst/>
            <a:rect r="r" b="b" t="t" l="l"/>
            <a:pathLst>
              <a:path h="4114800" w="6711043">
                <a:moveTo>
                  <a:pt x="0" y="0"/>
                </a:moveTo>
                <a:lnTo>
                  <a:pt x="6711043" y="0"/>
                </a:lnTo>
                <a:lnTo>
                  <a:pt x="67110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327834"/>
            <a:ext cx="6545941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Identifikasi Masalah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2844" y="7069562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18279" y="-1005353"/>
            <a:ext cx="4168615" cy="4168615"/>
          </a:xfrm>
          <a:custGeom>
            <a:avLst/>
            <a:gdLst/>
            <a:ahLst/>
            <a:cxnLst/>
            <a:rect r="r" b="b" t="t" l="l"/>
            <a:pathLst>
              <a:path h="4168615" w="4168615">
                <a:moveTo>
                  <a:pt x="0" y="0"/>
                </a:moveTo>
                <a:lnTo>
                  <a:pt x="4168615" y="0"/>
                </a:lnTo>
                <a:lnTo>
                  <a:pt x="4168615" y="4168615"/>
                </a:lnTo>
                <a:lnTo>
                  <a:pt x="0" y="416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13426" y="538479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3068395">
            <a:off x="-484452" y="-1143055"/>
            <a:ext cx="4147209" cy="3792968"/>
          </a:xfrm>
          <a:custGeom>
            <a:avLst/>
            <a:gdLst/>
            <a:ahLst/>
            <a:cxnLst/>
            <a:rect r="r" b="b" t="t" l="l"/>
            <a:pathLst>
              <a:path h="3792968" w="4147209">
                <a:moveTo>
                  <a:pt x="4147209" y="3792968"/>
                </a:moveTo>
                <a:lnTo>
                  <a:pt x="0" y="3792968"/>
                </a:lnTo>
                <a:lnTo>
                  <a:pt x="0" y="0"/>
                </a:lnTo>
                <a:lnTo>
                  <a:pt x="4147209" y="0"/>
                </a:lnTo>
                <a:lnTo>
                  <a:pt x="4147209" y="379296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28403" y="7399992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1" y="0"/>
                </a:lnTo>
                <a:lnTo>
                  <a:pt x="4406261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60656" y="7928065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410857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862109">
            <a:off x="-2099388" y="2796274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4290" y="2499432"/>
            <a:ext cx="16268296" cy="616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5"/>
              </a:lnSpc>
            </a:pPr>
          </a:p>
          <a:p>
            <a:pPr algn="l" marL="754918" indent="-377459" lvl="1">
              <a:lnSpc>
                <a:spcPts val="4895"/>
              </a:lnSpc>
              <a:buFont typeface="Arial"/>
              <a:buChar char="•"/>
            </a:pPr>
            <a:r>
              <a:rPr lang="en-US" sz="3496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Deteksi dini penyakit mata sering terlambat, terutama retinopati diabetik, hipertensi, dan gangguan sirkulasi pada retina.</a:t>
            </a:r>
          </a:p>
          <a:p>
            <a:pPr algn="l" marL="754918" indent="-377459" lvl="1">
              <a:lnSpc>
                <a:spcPts val="4895"/>
              </a:lnSpc>
              <a:buFont typeface="Arial"/>
              <a:buChar char="•"/>
            </a:pPr>
            <a:r>
              <a:rPr lang="en-US" sz="3496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Pemeriksaan manual bergantung pada dokter spesialis sehingga dapat terjadi human error dan membutuhkan waktu lama.</a:t>
            </a:r>
          </a:p>
          <a:p>
            <a:pPr algn="l" marL="754918" indent="-377459" lvl="1">
              <a:lnSpc>
                <a:spcPts val="4895"/>
              </a:lnSpc>
              <a:buFont typeface="Arial"/>
              <a:buChar char="•"/>
            </a:pPr>
            <a:r>
              <a:rPr lang="en-US" sz="3496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Distribusi dokter mata tidak merata, membuat skrining populasi sulit dilakukan, terutama di daerah terpencil.</a:t>
            </a:r>
          </a:p>
          <a:p>
            <a:pPr algn="l" marL="754918" indent="-377459" lvl="1">
              <a:lnSpc>
                <a:spcPts val="4895"/>
              </a:lnSpc>
              <a:buFont typeface="Arial"/>
              <a:buChar char="•"/>
            </a:pPr>
            <a:r>
              <a:rPr lang="en-US" sz="3496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Citra retina memiliki pola pembuluh darah yang kompleks, sehingga sulit dianalisis tanpa alat bantu cerdas.</a:t>
            </a:r>
          </a:p>
          <a:p>
            <a:pPr algn="l">
              <a:lnSpc>
                <a:spcPts val="489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Tujuan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57635" y="2979568"/>
            <a:ext cx="15827297" cy="479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454" indent="-367227" lvl="1">
              <a:lnSpc>
                <a:spcPts val="4762"/>
              </a:lnSpc>
              <a:buFont typeface="Arial"/>
              <a:buChar char="•"/>
            </a:pPr>
            <a:r>
              <a:rPr lang="en-US" sz="3401" spc="3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Meng</a:t>
            </a:r>
            <a:r>
              <a:rPr lang="en-US" sz="3401" spc="3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embangkan AI yang mampu mendeteksi dan mengukur tingkat keparahan kelainan pembuluh darah retina secara otomatis.</a:t>
            </a:r>
          </a:p>
          <a:p>
            <a:pPr algn="l" marL="734454" indent="-367227" lvl="1">
              <a:lnSpc>
                <a:spcPts val="4762"/>
              </a:lnSpc>
              <a:buFont typeface="Arial"/>
              <a:buChar char="•"/>
            </a:pPr>
            <a:r>
              <a:rPr lang="en-US" sz="3401" spc="3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Menyediakan alat skrining cepat, akurat, dan mudah digunakan untuk tenaga medis.</a:t>
            </a:r>
          </a:p>
          <a:p>
            <a:pPr algn="l" marL="734454" indent="-367227" lvl="1">
              <a:lnSpc>
                <a:spcPts val="4762"/>
              </a:lnSpc>
              <a:buFont typeface="Arial"/>
              <a:buChar char="•"/>
            </a:pPr>
            <a:r>
              <a:rPr lang="en-US" sz="3401" spc="3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Membantu dokter dalam pengambilan keputusan diagnosis dengan memberikan hasil analisis berbasis citra.</a:t>
            </a:r>
          </a:p>
          <a:p>
            <a:pPr algn="l" marL="734454" indent="-367227" lvl="1">
              <a:lnSpc>
                <a:spcPts val="4762"/>
              </a:lnSpc>
              <a:buFont typeface="Arial"/>
              <a:buChar char="•"/>
            </a:pPr>
            <a:r>
              <a:rPr lang="en-US" sz="3401" spc="37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Meningkatkan efektivitas pemantauan perkembangan penyakit melalui penilaian konsisten dari waktu ke waktu.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16970" y="7636464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18279" y="-1005353"/>
            <a:ext cx="4168615" cy="4168615"/>
          </a:xfrm>
          <a:custGeom>
            <a:avLst/>
            <a:gdLst/>
            <a:ahLst/>
            <a:cxnLst/>
            <a:rect r="r" b="b" t="t" l="l"/>
            <a:pathLst>
              <a:path h="4168615" w="4168615">
                <a:moveTo>
                  <a:pt x="0" y="0"/>
                </a:moveTo>
                <a:lnTo>
                  <a:pt x="4168615" y="0"/>
                </a:lnTo>
                <a:lnTo>
                  <a:pt x="4168615" y="4168615"/>
                </a:lnTo>
                <a:lnTo>
                  <a:pt x="0" y="416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754915" y="5410908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3068395">
            <a:off x="-484452" y="-1143055"/>
            <a:ext cx="4147209" cy="3792968"/>
          </a:xfrm>
          <a:custGeom>
            <a:avLst/>
            <a:gdLst/>
            <a:ahLst/>
            <a:cxnLst/>
            <a:rect r="r" b="b" t="t" l="l"/>
            <a:pathLst>
              <a:path h="3792968" w="4147209">
                <a:moveTo>
                  <a:pt x="4147209" y="3792968"/>
                </a:moveTo>
                <a:lnTo>
                  <a:pt x="0" y="3792968"/>
                </a:lnTo>
                <a:lnTo>
                  <a:pt x="0" y="0"/>
                </a:lnTo>
                <a:lnTo>
                  <a:pt x="4147209" y="0"/>
                </a:lnTo>
                <a:lnTo>
                  <a:pt x="4147209" y="379296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28403" y="7399992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1" y="0"/>
                </a:lnTo>
                <a:lnTo>
                  <a:pt x="4406261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60656" y="7928065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10857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862109">
            <a:off x="-2099388" y="2796274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166034"/>
            <a:ext cx="1051751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Manfaat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952672" y="7376747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2938" y="-6158717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616325" y="5870665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65474">
            <a:off x="-320166" y="7535862"/>
            <a:ext cx="4659130" cy="4659130"/>
          </a:xfrm>
          <a:custGeom>
            <a:avLst/>
            <a:gdLst/>
            <a:ahLst/>
            <a:cxnLst/>
            <a:rect r="r" b="b" t="t" l="l"/>
            <a:pathLst>
              <a:path h="4659130" w="4659130">
                <a:moveTo>
                  <a:pt x="0" y="0"/>
                </a:moveTo>
                <a:lnTo>
                  <a:pt x="4659130" y="0"/>
                </a:lnTo>
                <a:lnTo>
                  <a:pt x="4659130" y="4659130"/>
                </a:lnTo>
                <a:lnTo>
                  <a:pt x="0" y="4659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626222">
            <a:off x="-2138646" y="277969"/>
            <a:ext cx="4653541" cy="4256051"/>
          </a:xfrm>
          <a:custGeom>
            <a:avLst/>
            <a:gdLst/>
            <a:ahLst/>
            <a:cxnLst/>
            <a:rect r="r" b="b" t="t" l="l"/>
            <a:pathLst>
              <a:path h="4256051" w="4653541">
                <a:moveTo>
                  <a:pt x="4653541" y="4256051"/>
                </a:moveTo>
                <a:lnTo>
                  <a:pt x="0" y="4256051"/>
                </a:lnTo>
                <a:lnTo>
                  <a:pt x="0" y="0"/>
                </a:lnTo>
                <a:lnTo>
                  <a:pt x="4653541" y="0"/>
                </a:lnTo>
                <a:lnTo>
                  <a:pt x="4653541" y="425605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54698" y="-920279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0" y="0"/>
                </a:lnTo>
                <a:lnTo>
                  <a:pt x="4406260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33494" y="8420052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34112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001866">
            <a:off x="1785853" y="-2482431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62306" y="3314234"/>
            <a:ext cx="15563388" cy="469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061" indent="-320531" lvl="1">
              <a:lnSpc>
                <a:spcPts val="4156"/>
              </a:lnSpc>
              <a:buFont typeface="Arial"/>
              <a:buChar char="•"/>
            </a:pP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Det</a:t>
            </a: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eksi dini penyakit retina sehingga penanganan dapat dilakukan lebih cepat dan mencegah kebutaan.</a:t>
            </a:r>
          </a:p>
          <a:p>
            <a:pPr algn="l" marL="641061" indent="-320531" lvl="1">
              <a:lnSpc>
                <a:spcPts val="4156"/>
              </a:lnSpc>
              <a:buFont typeface="Arial"/>
              <a:buChar char="•"/>
            </a:pP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Mengurangi beban kerja dokter dengan memberikan analisis otomatis dan objektif.</a:t>
            </a:r>
          </a:p>
          <a:p>
            <a:pPr algn="l" marL="641061" indent="-320531" lvl="1">
              <a:lnSpc>
                <a:spcPts val="4156"/>
              </a:lnSpc>
              <a:buFont typeface="Arial"/>
              <a:buChar char="•"/>
            </a:pP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Akses skrining lebih luas, terutama di daerah dengan minim spesialis mata.</a:t>
            </a:r>
          </a:p>
          <a:p>
            <a:pPr algn="l" marL="641061" indent="-320531" lvl="1">
              <a:lnSpc>
                <a:spcPts val="4156"/>
              </a:lnSpc>
              <a:buFont typeface="Arial"/>
              <a:buChar char="•"/>
            </a:pP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Meningkatkan akurasi diagnosis melalui teknologi analisis citra berbasis AI.</a:t>
            </a:r>
          </a:p>
          <a:p>
            <a:pPr algn="l" marL="641061" indent="-320531" lvl="1">
              <a:lnSpc>
                <a:spcPts val="4156"/>
              </a:lnSpc>
              <a:buFont typeface="Arial"/>
              <a:buChar char="•"/>
            </a:pP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Mendukung pengambilan keputusan klinis dengan hasil yang terstandardisasi dan mudah dipahami.</a:t>
            </a:r>
          </a:p>
          <a:p>
            <a:pPr algn="l" marL="641061" indent="-320531" lvl="1">
              <a:lnSpc>
                <a:spcPts val="4156"/>
              </a:lnSpc>
              <a:buFont typeface="Arial"/>
              <a:buChar char="•"/>
            </a:pPr>
            <a:r>
              <a:rPr lang="en-US" sz="2969" spc="32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Potensi digunakan dalam program kesehatan nasional untuk screening massal.</a:t>
            </a:r>
          </a:p>
          <a:p>
            <a:pPr algn="l">
              <a:lnSpc>
                <a:spcPts val="415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Metode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14941" y="3129037"/>
            <a:ext cx="14589933" cy="469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7"/>
              </a:lnSpc>
            </a:pPr>
            <a:r>
              <a:rPr lang="en-US" sz="3797" spc="41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Deep Learning - U-Net Architecture</a:t>
            </a:r>
          </a:p>
          <a:p>
            <a:pPr algn="l" marL="819980" indent="-409990" lvl="1">
              <a:lnSpc>
                <a:spcPts val="5317"/>
              </a:lnSpc>
              <a:buFont typeface="Arial"/>
              <a:buChar char="•"/>
            </a:pPr>
            <a:r>
              <a:rPr lang="en-US" sz="3797" spc="41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Model: U-Net Convolutional Neural Network</a:t>
            </a:r>
          </a:p>
          <a:p>
            <a:pPr algn="l" marL="819980" indent="-409990" lvl="1">
              <a:lnSpc>
                <a:spcPts val="5317"/>
              </a:lnSpc>
              <a:buFont typeface="Arial"/>
              <a:buChar char="•"/>
            </a:pPr>
            <a:r>
              <a:rPr lang="en-US" sz="3797" spc="41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Input: Citra fundus retina (RGB)</a:t>
            </a:r>
          </a:p>
          <a:p>
            <a:pPr algn="l" marL="819980" indent="-409990" lvl="1">
              <a:lnSpc>
                <a:spcPts val="5317"/>
              </a:lnSpc>
              <a:buFont typeface="Arial"/>
              <a:buChar char="•"/>
            </a:pPr>
            <a:r>
              <a:rPr lang="en-US" sz="3797" spc="41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Output: Binary segmentation mask (pembuluh darah)</a:t>
            </a:r>
          </a:p>
          <a:p>
            <a:pPr algn="l" marL="819980" indent="-409990" lvl="1">
              <a:lnSpc>
                <a:spcPts val="5317"/>
              </a:lnSpc>
              <a:buFont typeface="Arial"/>
              <a:buChar char="•"/>
            </a:pPr>
            <a:r>
              <a:rPr lang="en-US" sz="3797" spc="41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Framework: PyTorch</a:t>
            </a:r>
          </a:p>
          <a:p>
            <a:pPr algn="l" marL="819980" indent="-409990" lvl="1">
              <a:lnSpc>
                <a:spcPts val="5317"/>
              </a:lnSpc>
              <a:buFont typeface="Arial"/>
              <a:buChar char="•"/>
            </a:pPr>
            <a:r>
              <a:rPr lang="en-US" sz="3797" spc="41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Training: Model dilatih menggunakan dataset retina untuk mempelajari pola pembuluh darah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2844" y="7069562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634264" y="213812"/>
            <a:ext cx="4168615" cy="4168615"/>
          </a:xfrm>
          <a:custGeom>
            <a:avLst/>
            <a:gdLst/>
            <a:ahLst/>
            <a:cxnLst/>
            <a:rect r="r" b="b" t="t" l="l"/>
            <a:pathLst>
              <a:path h="4168615" w="4168615">
                <a:moveTo>
                  <a:pt x="4168615" y="0"/>
                </a:moveTo>
                <a:lnTo>
                  <a:pt x="0" y="0"/>
                </a:lnTo>
                <a:lnTo>
                  <a:pt x="0" y="4168615"/>
                </a:lnTo>
                <a:lnTo>
                  <a:pt x="4168615" y="4168615"/>
                </a:lnTo>
                <a:lnTo>
                  <a:pt x="4168615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413426" y="538479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3068395">
            <a:off x="14989595" y="-960962"/>
            <a:ext cx="4147209" cy="3792968"/>
          </a:xfrm>
          <a:custGeom>
            <a:avLst/>
            <a:gdLst/>
            <a:ahLst/>
            <a:cxnLst/>
            <a:rect r="r" b="b" t="t" l="l"/>
            <a:pathLst>
              <a:path h="3792968" w="4147209">
                <a:moveTo>
                  <a:pt x="4147209" y="3792968"/>
                </a:moveTo>
                <a:lnTo>
                  <a:pt x="0" y="3792968"/>
                </a:lnTo>
                <a:lnTo>
                  <a:pt x="0" y="0"/>
                </a:lnTo>
                <a:lnTo>
                  <a:pt x="4147209" y="0"/>
                </a:lnTo>
                <a:lnTo>
                  <a:pt x="4147209" y="379296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28403" y="7399992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1" y="0"/>
                </a:lnTo>
                <a:lnTo>
                  <a:pt x="4406261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60656" y="7928065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10857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8870194">
            <a:off x="2252863" y="-261851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9687" y="-6596867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56064" y="7926835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0241" y="2228244"/>
            <a:ext cx="12191307" cy="309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6"/>
              </a:lnSpc>
            </a:pPr>
            <a:r>
              <a:rPr lang="en-US" sz="3511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- Menghitung persentase pixel pembuluh darah terhadap total pixel gambar</a:t>
            </a:r>
          </a:p>
          <a:p>
            <a:pPr algn="l">
              <a:lnSpc>
                <a:spcPts val="4916"/>
              </a:lnSpc>
            </a:pPr>
            <a:r>
              <a:rPr lang="en-US" sz="3511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- Formula: (vessel_pixels / total_pixels) × 100%</a:t>
            </a:r>
          </a:p>
          <a:p>
            <a:pPr algn="l">
              <a:lnSpc>
                <a:spcPts val="4916"/>
              </a:lnSpc>
            </a:pPr>
            <a:r>
              <a:rPr lang="en-US" sz="3511" spc="38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- Range normal: 7-15%</a:t>
            </a:r>
          </a:p>
          <a:p>
            <a:pPr algn="l">
              <a:lnSpc>
                <a:spcPts val="491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21920" y="-1845354"/>
            <a:ext cx="5403352" cy="5403352"/>
          </a:xfrm>
          <a:custGeom>
            <a:avLst/>
            <a:gdLst/>
            <a:ahLst/>
            <a:cxnLst/>
            <a:rect r="r" b="b" t="t" l="l"/>
            <a:pathLst>
              <a:path h="5403352" w="5403352">
                <a:moveTo>
                  <a:pt x="0" y="0"/>
                </a:moveTo>
                <a:lnTo>
                  <a:pt x="5403353" y="0"/>
                </a:lnTo>
                <a:lnTo>
                  <a:pt x="5403353" y="5403352"/>
                </a:lnTo>
                <a:lnTo>
                  <a:pt x="0" y="5403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242059" y="3813265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3068395">
            <a:off x="-484452" y="-1143055"/>
            <a:ext cx="4147209" cy="3792968"/>
          </a:xfrm>
          <a:custGeom>
            <a:avLst/>
            <a:gdLst/>
            <a:ahLst/>
            <a:cxnLst/>
            <a:rect r="r" b="b" t="t" l="l"/>
            <a:pathLst>
              <a:path h="3792968" w="4147209">
                <a:moveTo>
                  <a:pt x="4147209" y="3792968"/>
                </a:moveTo>
                <a:lnTo>
                  <a:pt x="0" y="3792968"/>
                </a:lnTo>
                <a:lnTo>
                  <a:pt x="0" y="0"/>
                </a:lnTo>
                <a:lnTo>
                  <a:pt x="4147209" y="0"/>
                </a:lnTo>
                <a:lnTo>
                  <a:pt x="4147209" y="379296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28403" y="7399992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1" y="0"/>
                </a:lnTo>
                <a:lnTo>
                  <a:pt x="4406261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92403" y="8070643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10857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862109">
            <a:off x="-2099388" y="2796274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46279" y="561395"/>
            <a:ext cx="11511769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Vessel Analysis Algorithms</a:t>
            </a:r>
          </a:p>
          <a:p>
            <a:pPr algn="l">
              <a:lnSpc>
                <a:spcPts val="664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2962995" y="5970566"/>
            <a:ext cx="15001815" cy="352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- Skelet</a:t>
            </a: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onization: Mengubah pembuluh darah menjadi garis tengah tipis</a:t>
            </a:r>
          </a:p>
          <a:p>
            <a:pPr algn="l">
              <a:lnSpc>
                <a:spcPts val="4657"/>
              </a:lnSpc>
            </a:pP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  - Connected Components: Mengidentifikasi segmen pembuluh individual</a:t>
            </a:r>
          </a:p>
          <a:p>
            <a:pPr algn="l">
              <a:lnSpc>
                <a:spcPts val="4657"/>
              </a:lnSpc>
            </a:pP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  - Arc Length Calculation: Menghitung panjang jalur pembuluh</a:t>
            </a:r>
          </a:p>
          <a:p>
            <a:pPr algn="l">
              <a:lnSpc>
                <a:spcPts val="4657"/>
              </a:lnSpc>
            </a:pP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  - Endpoint Detection: Menemukan titik awal dan akhir pembuluh</a:t>
            </a:r>
          </a:p>
          <a:p>
            <a:pPr algn="l">
              <a:lnSpc>
                <a:spcPts val="4657"/>
              </a:lnSpc>
            </a:pP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  - Formula: tortuosity = arc_length / euclidean_distance</a:t>
            </a:r>
          </a:p>
          <a:p>
            <a:pPr algn="l">
              <a:lnSpc>
                <a:spcPts val="4657"/>
              </a:lnSpc>
            </a:pPr>
            <a:r>
              <a:rPr lang="en-US" sz="3326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  - Interpretasi: 1.0 = lurus, &gt;1.3 = tortuous (berliku)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6279" y="5132391"/>
            <a:ext cx="10303224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Tortuosity Measurement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50241" y="1627304"/>
            <a:ext cx="11511769" cy="67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52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Vessel Density Calculation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266033"/>
            <a:ext cx="6545941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Overlay Visualization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63949" y="3610807"/>
            <a:ext cx="11560102" cy="48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8"/>
              </a:lnSpc>
            </a:pPr>
            <a:r>
              <a:rPr lang="en-US" sz="4548" spc="50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Menggabungkan gambar asli dengan mask segmentasi</a:t>
            </a:r>
          </a:p>
          <a:p>
            <a:pPr algn="l">
              <a:lnSpc>
                <a:spcPts val="6368"/>
              </a:lnSpc>
            </a:pPr>
            <a:r>
              <a:rPr lang="en-US" sz="4548" spc="50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- Pembuluh darah ditampilkan dengan warna merah semi-transparan</a:t>
            </a:r>
          </a:p>
          <a:p>
            <a:pPr algn="l">
              <a:lnSpc>
                <a:spcPts val="6368"/>
              </a:lnSpc>
            </a:pPr>
            <a:r>
              <a:rPr lang="en-US" sz="4548" spc="50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- Alpha blending dengan faktor 0.1</a:t>
            </a:r>
          </a:p>
          <a:p>
            <a:pPr algn="l">
              <a:lnSpc>
                <a:spcPts val="6368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754276" y="740327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62010" y="7415286"/>
            <a:ext cx="4168615" cy="4168615"/>
          </a:xfrm>
          <a:custGeom>
            <a:avLst/>
            <a:gdLst/>
            <a:ahLst/>
            <a:cxnLst/>
            <a:rect r="r" b="b" t="t" l="l"/>
            <a:pathLst>
              <a:path h="4168615" w="4168615">
                <a:moveTo>
                  <a:pt x="0" y="0"/>
                </a:moveTo>
                <a:lnTo>
                  <a:pt x="4168615" y="0"/>
                </a:lnTo>
                <a:lnTo>
                  <a:pt x="4168615" y="4168615"/>
                </a:lnTo>
                <a:lnTo>
                  <a:pt x="0" y="416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855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3068395">
            <a:off x="-484452" y="-1143055"/>
            <a:ext cx="4147209" cy="3792968"/>
          </a:xfrm>
          <a:custGeom>
            <a:avLst/>
            <a:gdLst/>
            <a:ahLst/>
            <a:cxnLst/>
            <a:rect r="r" b="b" t="t" l="l"/>
            <a:pathLst>
              <a:path h="3792968" w="4147209">
                <a:moveTo>
                  <a:pt x="4147209" y="3792968"/>
                </a:moveTo>
                <a:lnTo>
                  <a:pt x="0" y="3792968"/>
                </a:lnTo>
                <a:lnTo>
                  <a:pt x="0" y="0"/>
                </a:lnTo>
                <a:lnTo>
                  <a:pt x="4147209" y="0"/>
                </a:lnTo>
                <a:lnTo>
                  <a:pt x="4147209" y="379296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056170" y="-1958842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0" y="0"/>
                </a:lnTo>
                <a:lnTo>
                  <a:pt x="4406260" y="4029725"/>
                </a:lnTo>
                <a:lnTo>
                  <a:pt x="0" y="40297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15602" y="8420052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410857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779822">
            <a:off x="15958708" y="177993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862109">
            <a:off x="-2099388" y="2796274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3404" y="1162050"/>
            <a:ext cx="9987008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AI-Powered Medical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852881" y="7399992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9432" y="-512015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18279" y="-1005353"/>
            <a:ext cx="4168615" cy="4168615"/>
          </a:xfrm>
          <a:custGeom>
            <a:avLst/>
            <a:gdLst/>
            <a:ahLst/>
            <a:cxnLst/>
            <a:rect r="r" b="b" t="t" l="l"/>
            <a:pathLst>
              <a:path h="4168615" w="4168615">
                <a:moveTo>
                  <a:pt x="0" y="0"/>
                </a:moveTo>
                <a:lnTo>
                  <a:pt x="4168615" y="0"/>
                </a:lnTo>
                <a:lnTo>
                  <a:pt x="4168615" y="4168615"/>
                </a:lnTo>
                <a:lnTo>
                  <a:pt x="0" y="4168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245560" y="-3086100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3068395">
            <a:off x="-641949" y="7744309"/>
            <a:ext cx="4147209" cy="3792968"/>
          </a:xfrm>
          <a:custGeom>
            <a:avLst/>
            <a:gdLst/>
            <a:ahLst/>
            <a:cxnLst/>
            <a:rect r="r" b="b" t="t" l="l"/>
            <a:pathLst>
              <a:path h="3792968" w="4147209">
                <a:moveTo>
                  <a:pt x="4147208" y="3792968"/>
                </a:moveTo>
                <a:lnTo>
                  <a:pt x="0" y="3792968"/>
                </a:lnTo>
                <a:lnTo>
                  <a:pt x="0" y="0"/>
                </a:lnTo>
                <a:lnTo>
                  <a:pt x="4147208" y="0"/>
                </a:lnTo>
                <a:lnTo>
                  <a:pt x="4147208" y="379296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28403" y="7399992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1" y="0"/>
                </a:lnTo>
                <a:lnTo>
                  <a:pt x="4406261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13188" y="8076267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188625" y="-349995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899"/>
                </a:lnTo>
                <a:lnTo>
                  <a:pt x="0" y="28578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33780" y="2004208"/>
            <a:ext cx="10768806" cy="346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314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</a:t>
            </a:r>
            <a:r>
              <a:rPr lang="en-US" sz="3314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 GenAI Integration: Google Gemini 2.5 Flash</a:t>
            </a:r>
          </a:p>
          <a:p>
            <a:pPr algn="l">
              <a:lnSpc>
                <a:spcPts val="4640"/>
              </a:lnSpc>
            </a:pPr>
            <a:r>
              <a:rPr lang="en-US" sz="3314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Multimodal Input: Mengirim gambar asli + mask + metrics</a:t>
            </a:r>
          </a:p>
          <a:p>
            <a:pPr algn="l">
              <a:lnSpc>
                <a:spcPts val="4640"/>
              </a:lnSpc>
            </a:pPr>
            <a:r>
              <a:rPr lang="en-US" sz="3314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Output: Analisis medis komprehensif dalam format Markdown</a:t>
            </a:r>
          </a:p>
          <a:p>
            <a:pPr algn="l">
              <a:lnSpc>
                <a:spcPts val="4640"/>
              </a:lnSpc>
            </a:pPr>
            <a:r>
              <a:rPr lang="en-US" sz="3314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Fallback: Summary otomatis jika GenAI gagal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61751" y="6769549"/>
            <a:ext cx="15572913" cy="235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6"/>
              </a:lnSpc>
            </a:pPr>
            <a:r>
              <a:rPr lang="en-US" sz="3347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Back</a:t>
            </a:r>
            <a:r>
              <a:rPr lang="en-US" sz="3347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end: Flask (Python)</a:t>
            </a:r>
          </a:p>
          <a:p>
            <a:pPr algn="l">
              <a:lnSpc>
                <a:spcPts val="4686"/>
              </a:lnSpc>
            </a:pPr>
            <a:r>
              <a:rPr lang="en-US" sz="3347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Frontend: HTML, Tailwind CSS, JavaScript</a:t>
            </a:r>
          </a:p>
          <a:p>
            <a:pPr algn="l">
              <a:lnSpc>
                <a:spcPts val="4686"/>
              </a:lnSpc>
            </a:pPr>
            <a:r>
              <a:rPr lang="en-US" sz="3347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Image Processing: OpenCV, NumPy, PIL (Pillow)</a:t>
            </a:r>
          </a:p>
          <a:p>
            <a:pPr algn="l">
              <a:lnSpc>
                <a:spcPts val="4686"/>
              </a:lnSpc>
            </a:pPr>
            <a:r>
              <a:rPr lang="en-US" sz="3347" spc="36">
                <a:solidFill>
                  <a:srgbClr val="24373E"/>
                </a:solidFill>
                <a:latin typeface="More Sugar"/>
                <a:ea typeface="More Sugar"/>
                <a:cs typeface="More Sugar"/>
                <a:sym typeface="More Sugar"/>
              </a:rPr>
              <a:t>- Markdown Rendering: Python Markdown library dengan extensions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3862109">
            <a:off x="-2099388" y="2796274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63098" y="5748748"/>
            <a:ext cx="7851843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Web Aplication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166034"/>
            <a:ext cx="1051751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Hasil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952672" y="7376747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42938" y="-6158717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616325" y="5870665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65474">
            <a:off x="-320166" y="7535862"/>
            <a:ext cx="4659130" cy="4659130"/>
          </a:xfrm>
          <a:custGeom>
            <a:avLst/>
            <a:gdLst/>
            <a:ahLst/>
            <a:cxnLst/>
            <a:rect r="r" b="b" t="t" l="l"/>
            <a:pathLst>
              <a:path h="4659130" w="4659130">
                <a:moveTo>
                  <a:pt x="0" y="0"/>
                </a:moveTo>
                <a:lnTo>
                  <a:pt x="4659130" y="0"/>
                </a:lnTo>
                <a:lnTo>
                  <a:pt x="4659130" y="4659130"/>
                </a:lnTo>
                <a:lnTo>
                  <a:pt x="0" y="46591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3626222">
            <a:off x="-2138646" y="277969"/>
            <a:ext cx="4653541" cy="4256051"/>
          </a:xfrm>
          <a:custGeom>
            <a:avLst/>
            <a:gdLst/>
            <a:ahLst/>
            <a:cxnLst/>
            <a:rect r="r" b="b" t="t" l="l"/>
            <a:pathLst>
              <a:path h="4256051" w="4653541">
                <a:moveTo>
                  <a:pt x="4653541" y="4256051"/>
                </a:moveTo>
                <a:lnTo>
                  <a:pt x="0" y="4256051"/>
                </a:lnTo>
                <a:lnTo>
                  <a:pt x="0" y="0"/>
                </a:lnTo>
                <a:lnTo>
                  <a:pt x="4653541" y="0"/>
                </a:lnTo>
                <a:lnTo>
                  <a:pt x="4653541" y="4256051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54698" y="-920279"/>
            <a:ext cx="4406261" cy="4029726"/>
          </a:xfrm>
          <a:custGeom>
            <a:avLst/>
            <a:gdLst/>
            <a:ahLst/>
            <a:cxnLst/>
            <a:rect r="r" b="b" t="t" l="l"/>
            <a:pathLst>
              <a:path h="4029726" w="4406261">
                <a:moveTo>
                  <a:pt x="0" y="0"/>
                </a:moveTo>
                <a:lnTo>
                  <a:pt x="4406260" y="0"/>
                </a:lnTo>
                <a:lnTo>
                  <a:pt x="4406260" y="4029726"/>
                </a:lnTo>
                <a:lnTo>
                  <a:pt x="0" y="40297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33494" y="8420052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34112" y="8070643"/>
            <a:ext cx="4661098" cy="2857900"/>
          </a:xfrm>
          <a:custGeom>
            <a:avLst/>
            <a:gdLst/>
            <a:ahLst/>
            <a:cxnLst/>
            <a:rect r="r" b="b" t="t" l="l"/>
            <a:pathLst>
              <a:path h="2857900" w="4661098">
                <a:moveTo>
                  <a:pt x="0" y="0"/>
                </a:moveTo>
                <a:lnTo>
                  <a:pt x="4661098" y="0"/>
                </a:lnTo>
                <a:lnTo>
                  <a:pt x="4661098" y="2857900"/>
                </a:lnTo>
                <a:lnTo>
                  <a:pt x="0" y="2857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779822">
            <a:off x="16048707" y="355799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001866">
            <a:off x="1785853" y="-2482431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5" y="0"/>
                </a:lnTo>
                <a:lnTo>
                  <a:pt x="41987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300309" y="1442097"/>
            <a:ext cx="3169864" cy="3901371"/>
            <a:chOff x="0" y="0"/>
            <a:chExt cx="6604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DF826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98299" y="1574767"/>
            <a:ext cx="2773884" cy="303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159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1. S</a:t>
            </a:r>
            <a:r>
              <a:rPr lang="en-US" sz="2159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egmented Image (Binary Mask)</a:t>
            </a:r>
          </a:p>
          <a:p>
            <a:pPr algn="ctr">
              <a:lnSpc>
                <a:spcPts val="3022"/>
              </a:lnSpc>
            </a:pPr>
            <a:r>
              <a:rPr lang="en-US" sz="2159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Output utama dari model U-Net</a:t>
            </a:r>
          </a:p>
          <a:p>
            <a:pPr algn="ctr">
              <a:lnSpc>
                <a:spcPts val="3022"/>
              </a:lnSpc>
            </a:pPr>
            <a:r>
              <a:rPr lang="en-US" sz="2159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Gambar hitam-putih (binary) yang menunjukkan pembuluh darah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559068" y="2070883"/>
            <a:ext cx="3169864" cy="3901371"/>
            <a:chOff x="0" y="0"/>
            <a:chExt cx="6604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DF826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661825" y="2193502"/>
            <a:ext cx="2964350" cy="342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6"/>
              </a:lnSpc>
            </a:pPr>
            <a:r>
              <a:rPr lang="en-US" sz="2154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2.Overlay</a:t>
            </a:r>
          </a:p>
          <a:p>
            <a:pPr algn="ctr">
              <a:lnSpc>
                <a:spcPts val="3016"/>
              </a:lnSpc>
            </a:pPr>
            <a:r>
              <a:rPr lang="en-US" sz="2154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Visualization </a:t>
            </a:r>
            <a:r>
              <a:rPr lang="en-US" sz="2154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Kombinasi gambar asli dengan mask segmentasi Pembuluh darah di-highlight dengan warna merah semi-transparan</a:t>
            </a:r>
          </a:p>
          <a:p>
            <a:pPr algn="l">
              <a:lnSpc>
                <a:spcPts val="3016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2370318" y="1360989"/>
            <a:ext cx="3169864" cy="3901371"/>
            <a:chOff x="0" y="0"/>
            <a:chExt cx="6604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DF826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441616" y="1403997"/>
            <a:ext cx="2984992" cy="3966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  <a:r>
              <a:rPr lang="en-US" sz="2070" spc="22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3. Vessel Density (Kepadatan Pembuluh Darah)</a:t>
            </a:r>
          </a:p>
          <a:p>
            <a:pPr algn="ctr">
              <a:lnSpc>
                <a:spcPts val="2898"/>
              </a:lnSpc>
            </a:pPr>
            <a:r>
              <a:rPr lang="en-US" sz="2070" spc="22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Persentase pixel pembuluh darah terhadap total pixel gambar</a:t>
            </a:r>
          </a:p>
          <a:p>
            <a:pPr algn="ctr">
              <a:lnSpc>
                <a:spcPts val="2898"/>
              </a:lnSpc>
            </a:pPr>
            <a:r>
              <a:rPr lang="en-US" sz="2070" spc="22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Indikator kuantitatif untuk kesehatan retina</a:t>
            </a:r>
          </a:p>
          <a:p>
            <a:pPr algn="ctr">
              <a:lnSpc>
                <a:spcPts val="2898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4227279" y="5426061"/>
            <a:ext cx="3169864" cy="3901371"/>
            <a:chOff x="0" y="0"/>
            <a:chExt cx="6604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DF826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298920" y="5651715"/>
            <a:ext cx="3026583" cy="3411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170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4. Tortuosi</a:t>
            </a:r>
            <a:r>
              <a:rPr lang="en-US" sz="2170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ty Score (Skor Kelengkungan)</a:t>
            </a:r>
          </a:p>
          <a:p>
            <a:pPr algn="ctr">
              <a:lnSpc>
                <a:spcPts val="3038"/>
              </a:lnSpc>
            </a:pPr>
            <a:r>
              <a:rPr lang="en-US" sz="2170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Rasio panjang jalur pembuluh vs jarak lurus</a:t>
            </a:r>
          </a:p>
          <a:p>
            <a:pPr algn="ctr">
              <a:lnSpc>
                <a:spcPts val="3038"/>
              </a:lnSpc>
            </a:pPr>
            <a:r>
              <a:rPr lang="en-US" sz="2170" spc="23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Mengukur seberapa "berliku" pembuluh darah</a:t>
            </a:r>
          </a:p>
          <a:p>
            <a:pPr algn="ctr">
              <a:lnSpc>
                <a:spcPts val="3038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0785386" y="5426061"/>
            <a:ext cx="3169864" cy="3901371"/>
            <a:chOff x="0" y="0"/>
            <a:chExt cx="6604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DF826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890857" y="5332851"/>
            <a:ext cx="3015317" cy="2881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8"/>
              </a:lnSpc>
            </a:pPr>
          </a:p>
          <a:p>
            <a:pPr algn="ctr">
              <a:lnSpc>
                <a:spcPts val="2898"/>
              </a:lnSpc>
            </a:pPr>
            <a:r>
              <a:rPr lang="en-US" sz="2070" spc="22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5. AI Medical Summary (Laporan GenAI)</a:t>
            </a:r>
          </a:p>
          <a:p>
            <a:pPr algn="ctr">
              <a:lnSpc>
                <a:spcPts val="2898"/>
              </a:lnSpc>
            </a:pPr>
            <a:r>
              <a:rPr lang="en-US" sz="2070" spc="22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Analisis komprehensif dari Google Gemini 2.5 Flash</a:t>
            </a:r>
          </a:p>
          <a:p>
            <a:pPr algn="ctr">
              <a:lnSpc>
                <a:spcPts val="2898"/>
              </a:lnSpc>
            </a:pPr>
            <a:r>
              <a:rPr lang="en-US" sz="2070" spc="22">
                <a:solidFill>
                  <a:srgbClr val="24373E"/>
                </a:solidFill>
                <a:latin typeface="Fredoka"/>
                <a:ea typeface="Fredoka"/>
                <a:cs typeface="Fredoka"/>
                <a:sym typeface="Fredoka"/>
              </a:rPr>
              <a:t>Interpretasi medis dalam bahasa natural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893859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6" y="0"/>
                </a:lnTo>
                <a:lnTo>
                  <a:pt x="8005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58699" y="-1423067"/>
            <a:ext cx="7417021" cy="7417021"/>
          </a:xfrm>
          <a:custGeom>
            <a:avLst/>
            <a:gdLst/>
            <a:ahLst/>
            <a:cxnLst/>
            <a:rect r="r" b="b" t="t" l="l"/>
            <a:pathLst>
              <a:path h="7417021" w="7417021">
                <a:moveTo>
                  <a:pt x="0" y="0"/>
                </a:moveTo>
                <a:lnTo>
                  <a:pt x="7417021" y="0"/>
                </a:lnTo>
                <a:lnTo>
                  <a:pt x="7417021" y="7417021"/>
                </a:lnTo>
                <a:lnTo>
                  <a:pt x="0" y="7417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13426" y="5384793"/>
            <a:ext cx="8005156" cy="8229600"/>
          </a:xfrm>
          <a:custGeom>
            <a:avLst/>
            <a:gdLst/>
            <a:ahLst/>
            <a:cxnLst/>
            <a:rect r="r" b="b" t="t" l="l"/>
            <a:pathLst>
              <a:path h="8229600" w="8005156">
                <a:moveTo>
                  <a:pt x="0" y="0"/>
                </a:moveTo>
                <a:lnTo>
                  <a:pt x="8005157" y="0"/>
                </a:lnTo>
                <a:lnTo>
                  <a:pt x="80051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3068395">
            <a:off x="-481885" y="-2066555"/>
            <a:ext cx="6768666" cy="6190509"/>
          </a:xfrm>
          <a:custGeom>
            <a:avLst/>
            <a:gdLst/>
            <a:ahLst/>
            <a:cxnLst/>
            <a:rect r="r" b="b" t="t" l="l"/>
            <a:pathLst>
              <a:path h="6190509" w="6768666">
                <a:moveTo>
                  <a:pt x="6768666" y="6190510"/>
                </a:moveTo>
                <a:lnTo>
                  <a:pt x="0" y="6190510"/>
                </a:lnTo>
                <a:lnTo>
                  <a:pt x="0" y="0"/>
                </a:lnTo>
                <a:lnTo>
                  <a:pt x="6768666" y="0"/>
                </a:lnTo>
                <a:lnTo>
                  <a:pt x="6768666" y="619051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0569" y="2892919"/>
            <a:ext cx="10606862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B44420"/>
                </a:solidFill>
                <a:latin typeface="More Sugar"/>
                <a:ea typeface="More Sugar"/>
                <a:cs typeface="More Sugar"/>
                <a:sym typeface="More Sugar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981742" y="7442193"/>
            <a:ext cx="6711043" cy="4114800"/>
          </a:xfrm>
          <a:custGeom>
            <a:avLst/>
            <a:gdLst/>
            <a:ahLst/>
            <a:cxnLst/>
            <a:rect r="r" b="b" t="t" l="l"/>
            <a:pathLst>
              <a:path h="4114800" w="6711043">
                <a:moveTo>
                  <a:pt x="0" y="0"/>
                </a:moveTo>
                <a:lnTo>
                  <a:pt x="6711043" y="0"/>
                </a:lnTo>
                <a:lnTo>
                  <a:pt x="67110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90788" y="6387015"/>
            <a:ext cx="6806832" cy="6225157"/>
          </a:xfrm>
          <a:custGeom>
            <a:avLst/>
            <a:gdLst/>
            <a:ahLst/>
            <a:cxnLst/>
            <a:rect r="r" b="b" t="t" l="l"/>
            <a:pathLst>
              <a:path h="6225157" w="6806832">
                <a:moveTo>
                  <a:pt x="0" y="0"/>
                </a:moveTo>
                <a:lnTo>
                  <a:pt x="6806831" y="0"/>
                </a:lnTo>
                <a:lnTo>
                  <a:pt x="6806831" y="6225157"/>
                </a:lnTo>
                <a:lnTo>
                  <a:pt x="0" y="62251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60656" y="7928065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759963">
            <a:off x="-1815575" y="2917182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658517">
            <a:off x="7903476" y="-1380538"/>
            <a:ext cx="4198776" cy="4114800"/>
          </a:xfrm>
          <a:custGeom>
            <a:avLst/>
            <a:gdLst/>
            <a:ahLst/>
            <a:cxnLst/>
            <a:rect r="r" b="b" t="t" l="l"/>
            <a:pathLst>
              <a:path h="4114800" w="4198776">
                <a:moveTo>
                  <a:pt x="0" y="0"/>
                </a:moveTo>
                <a:lnTo>
                  <a:pt x="4198776" y="0"/>
                </a:lnTo>
                <a:lnTo>
                  <a:pt x="41987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DAGqFwqkYXs</dc:identifier>
  <dcterms:modified xsi:type="dcterms:W3CDTF">2011-08-01T06:04:30Z</dcterms:modified>
  <cp:revision>1</cp:revision>
  <dc:title>Uniform Cost Search</dc:title>
</cp:coreProperties>
</file>